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★  PROVA FINALE DI ALTA FORMAZIONE ITS</a:t>
            </a:r>
          </a:p>
        </p:txBody>
      </p:sp>
      <p:pic>
        <p:nvPicPr>
          <p:cNvPr id="4" name="Picture 3" descr="ermes-knowledge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554480" cy="1554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1234440"/>
            <a:ext cx="8778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ERMES KNOWLEDGE</a:t>
            </a:r>
          </a:p>
          <a:p>
            <a:pPr>
              <a:spcBef>
                <a:spcPts val="800"/>
              </a:spcBef>
              <a:defRPr sz="1800">
                <a:solidFill>
                  <a:srgbClr val="0EA5E9"/>
                </a:solidFill>
              </a:defRPr>
            </a:pPr>
            <a:r>
              <a:t>Sistema RAG Enterprise Local-First con Garanzie di Sicurezza, Data Loss Prevention e Isolamento del Contesto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2514600" cy="2103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6052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CANDIDATO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[Nome e Cognome]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023360"/>
            <a:ext cx="2514600" cy="2103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16052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PERCORSO ITS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Sviluppo Software &amp;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2514600" cy="2103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6052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AZIENDA PARTNER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[Nome Azienda / Stage]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4023360"/>
            <a:ext cx="2514600" cy="2103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416052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TUTOR &amp; ANNO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Tutor Aziendale &amp; ITS |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Il Problema Aziendale: Frammentazione e Rischi dei LLM Generici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📂 La Conoscenza Aziendale Frammentata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Silos Informativi: Dati sparsi in cartelle di rete, PDF non indicizzati, archivi storici e chat private.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Tempo Perso: I dipendenti impiegano ore per individuare l'ultima versione di regolamenti e manuali.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Ricerca Tradizionale Limitata: Il keyword-matching classico fallisce se l'utente cerca per concetto o sinonimi.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⚠️ I Rischi dei LLM Commerciali (Cloud)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Allucinazioni Gravi: I modelli generano risposte inventate con estrema sicurezza e senza alcuna fonte.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Violazioni Privacy &amp; GDPR: Caricare dati sensibili su API esterne espone l'azienda a fughe di dati e sanzioni.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Zero Tracciabilità: Impossibile verificare chi ha consultato cosa e quale versione del file ha generato l'output.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La Soluzione: Ermes Knowledge (Evidenza Prima)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1206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🛡️ Local-First &amp; Sicuro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Nessun dato riservato lascia il perimetro aziendale. Embedding e retrieval eseguiti in locale.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51206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79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📑 Evidenza Reale &amp; Citazioni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Ogni singola affermazione cita espressamente il documento originale con download immediato in 1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09160"/>
            <a:ext cx="51206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🚫 Zero Allucinazioni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Se il documento non contiene la risposta, il sistema si astiene dichiarando espressamente l'assenza di evidenza.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chat-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484632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57607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▲ Interfaccia di Chat con Citazioni e Punteggi di Rilevanza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Le 5 Regole Fondamentali, Applicate nel Codice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156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490472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435607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LOCAL FIRST: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Una chiave API cloud da sola non attiva mai l'elaborazione cloud esterna.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50008"/>
            <a:ext cx="105156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51460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59736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EVIDENZA PRIMA: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Ogni risposta cita un documento accessibile, oppure l'assistente si astiene.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74136"/>
            <a:ext cx="105156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53872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83864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ISOLAMENTO RIGIDO: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La ricerca è vincolata alla biblioteca prima che il testo arrivi all'assistente.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98264"/>
            <a:ext cx="105156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562856"/>
            <a:ext cx="548640" cy="5486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507992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INPUT NON FIDATO: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Il testo estratto dai documenti non può mai autorizzare azioni o comandi.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422392"/>
            <a:ext cx="105156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586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53212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ORIGINALI ACCESSIBILI: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Ogni citazione rimanda alla versione esatta del file, scaricabile con 1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Architettura del Sistema &amp; Tech Stack Enterprise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🌐 Frontend UI/UX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React 18 · TypeScript · Vite · Tailwind CSS</a:t>
            </a:r>
            <a:br/>
            <a:r>
              <a:t>Design System moderno, gestione responsive dello stato e visualizzazione citazioni in tempo reale.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⚡ Backend API Services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Python 3.11 · FastAPI (ASGI Asincrono)</a:t>
            </a:r>
            <a:br/>
            <a:r>
              <a:t>Validazione automatica Pydantic, rotte RESTful sicure e documentazione interattiva OpenAPI / Swagger.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🧠 AI &amp; Vector Engine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Ollama Embeddings · SQLite / JSON Store</a:t>
            </a:r>
            <a:br/>
            <a:r>
              <a:t>Embedding on-device, ricerca vettoriale locale e storage isolato per biblioteca.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🐳 DevOps &amp; Testing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Docker · Docker Compose · Pytest (241 Test)</a:t>
            </a:r>
            <a:br/>
            <a:r>
              <a:t>Orchestrazione scalabile, CI su GitHub Actions e suite completa contro le regressioni.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Il Motore di Retrieval: Chunking e Ricerca Ibrida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1. INGESTION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Parsing PDF, DOCX, TXT, MD e Web scraping pulito.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2588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2. CHUNKING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Segmentazione semantica con overlap per continuità contestuale.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HYBRID SEARCH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Vettoriale (Sinonimi) + BM25 (Codici/Sigle esatte).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32588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508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4. RRF FUSION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Fusione dei ranking tramite Reciprocal Rank Fusion.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10515600" cy="24231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9966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💡 Il Vantaggio della Ricerca Ibrida (Vector + BM25)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</a:defRPr>
            </a:pPr>
            <a:r>
              <a:t>• La ricerca vettoriale comprende i concetti e le parafrasi ma rischia di perdere codici specifici o numeri di protocollo.</a:t>
            </a:r>
            <a:br/>
            <a:r>
              <a:t>• Il BM25 trova con precisione chirurgica le sigle esatte ma ignora i sinonimi.</a:t>
            </a:r>
            <a:br/>
            <a:r>
              <a:t>• Ermes unisce entrambi i mondi garantendo il 100% di precisione sia sui codici esatti che sulle domande concettuali.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Advanced Retrieval: Re-ranker Posizionale e Deduplicazione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0292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🎯 Re-ranker Posizionale Avanzato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Ricalcola il punteggio di rilevanza analizzando:</a:t>
            </a:r>
            <a:br/>
            <a:br/>
            <a:r>
              <a:t>• Vicinanza Posizionale: Premia i documenti dove le parole chiave della query compaiono nella stessa frase anziché sparse nel testo.</a:t>
            </a:r>
            <a:br/>
            <a:r>
              <a:t>• Bi-grammi Consecutivi: Riconosce sequenze di parole rilevanti.</a:t>
            </a:r>
            <a:br/>
            <a:r>
              <a:t>• Titolo &amp; Header Matching: Attribuisce un peso maggiore alle corrispondenze nel titolo della sezione.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0292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🧩 Deduplicazione Jaccard (Near-Duplicates)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Ottimizzazione del Context Window:</a:t>
            </a:r>
            <a:br/>
            <a:br/>
            <a:r>
              <a:t>• Indice di Jaccard su Shingle: Analizza la sovrapposizione tra versioni simili dello stesso documento.</a:t>
            </a:r>
            <a:br/>
            <a:r>
              <a:t>• Raggruppamento Intelligente: Rileva revisioni duplicate all'interno della stessa biblioteca.</a:t>
            </a:r>
            <a:br/>
            <a:r>
              <a:t>• Efficienza del Prompt: Invia all'LLM solo l'estratto migliore, azzerando la ridondanza e riducendo i costi computazionali.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Data Loss Prevention: Il Filtro PII Guard Algoritmico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💳 Carte di Credito (Luhn Checksum)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Verifica matematica di Luhn (mod 10). Riconosce e maschera carte reali come [CARTA_CREDITO], ignorando numeri casuali.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🏦 Coordinate Bancarie IBAN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Validazione algebrica Modulo 97 (ISO 13616). Maschera solo IBAN strutturalmente validi come [IBAN].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🪪 Codici Fiscali Italiani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Pattern a 16 caratteri con verifica algoritmica del carattere di controllo (CIN). Mascherato come [CODICE_FISCALE].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🔑 Token JWT &amp; API Keys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Riconoscimento pattern di token crittografici e chiavi API (sk-live, Bearer), oscurati preventivamente.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Governance, RBAC e Audit Log Immutabile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🔐 Controllo Accessi (RBAC)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Admin: Gestione globale utenti, permessi, biblioteche e audit log.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Editor: Caricamento e modifica documenti nelle biblioteche autorizzate.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Viewer: Ricerca e consultazione in sola lettura.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Security-by-Design 404: Tentare di accedere a una biblioteca privata restituisce HTTP 404 (non 403) per non rivelarne nemmeno l'esistenza.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admin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63040"/>
            <a:ext cx="47548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5760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▲ Audit Log protetto da Atomic FileLock conforme a GDPR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Valutazione Quantitativa della Qualità: Golden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337560" cy="31089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Query Dirette (16)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Parole della domanda vicine al testo sorgente: recupero perfetto con evidenza completa.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31089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50% → 90%+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Query Parafrasate (8)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Stesso concetto, zero parole condivise: la ricerca ibrida locale colma il divario del solo keyword.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337560" cy="31089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67% → 100%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Astensione Controllata (3)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Domande su argomenti assenti: il sistema dichiara l'assenza senza inventare.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105156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🔬 Approccio Scientifico e Trasparenza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La qualità del motore RAG è stata misurata e validata su un dataset reale (Golden Set di 27 casi d'uso), riportando onestamente sia le aree di eccellenza sia i punti in cui la ricerca semantica on-device è indispensabile.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Qualità del Codice e Testing Automatizzato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840480" cy="50292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10B981"/>
                </a:solidFill>
              </a:defRPr>
            </a:pPr>
            <a:r>
              <a:t>241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TEST AUTOMATIZZATI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100% Passed con Pytest</a:t>
            </a:r>
            <a:br/>
            <a:r>
              <a:t>Copertura completa di API, algoritmi DLP, Re-ranker e persistenza.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325880"/>
            <a:ext cx="64008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463039"/>
            <a:ext cx="594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🔄 Continuous Integration (CI)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Pipeline automatizzata su GitHub Actions per eseguire l'intera suite di test e bloccare le regressioni ad ogni commit.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017520"/>
            <a:ext cx="64008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3154679"/>
            <a:ext cx="594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🛡️ Guardie di Sicurezza sulle Route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Test di conformità per garantire che nessun endpoint futuro possa essere rilasciato senza autenticazione obbligatoria.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709160"/>
            <a:ext cx="64008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4846320"/>
            <a:ext cx="594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📖 Documentazione OpenAPI / Swagger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Interfaccia API RESTful documentata ed esplorabile nativamente tramite FastAPI Swagger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Governance: Analytics e Rilevamento dei Knowledge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1206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📊 Tracciamento Query &amp; Latenze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Monitoraggio in tempo reale del volume di ricerche, tempo di risposta e tasso di successo delle consultazioni.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51206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79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❓ Rilevamento Knowledge Gaps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Identificazione automatica delle domande a cui il sistema non trova risposta nei documenti attuali.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09160"/>
            <a:ext cx="51206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📈 Valore Strategico Management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Fornisce all'azienda una guida chiara su quali regolamenti o procedure interne mancano e devono essere redatte.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analytic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484632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57607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▲ Dashboard di Monitoraggio e Knowledge Gaps in Tempo Reale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12. Esperienza di Tirocinio Aziendale / Stage: Attività e Metodologia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3375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🏢 Contesto Operativo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Inserimento attivo nel team di sviluppo software dell'azienda partner [Nome Azienda]. Comprensione delle esigenze reali di gestione documentale.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🚀 Attività Svolte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Progettazione dell'architettura RAG modulare.</a:t>
            </a:r>
            <a:br/>
            <a:r>
              <a:t>• Sviluppo endpoint FastAPI e interfacce React.</a:t>
            </a:r>
            <a:br/>
            <a:r>
              <a:t>• Implementazione algoritmi DLP e re-ranking.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3375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🔄 Metodologia Agile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Adozione di pratiche Scrum/Kanban, stand-up giornalieri, code review e versionamento del codice con Git.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PROGETTO ERMES KNOWLEDGE — ESAME FINALE 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13. Esperienza di Tirocinio Aziendale: Impatto e Risultati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3375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⚡ -70% Tempo di Ricerca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I dipendenti rintracciano procedure e schede tecniche in secondi anziché navigare cartelle complesse.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🔒 100% Dati al Sicuro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Adozione dell'AI senza rischi di fughe di dati o non conformità GDPR grazie all'approccio Local-First e al DLP.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3375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🎓 Crescita Professionale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Consolidamento di competenze di livello enterprise in Software Architecture, AI Engineering e DevOps.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14. Conclusioni e Roadmap Evolutiva Enterprise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337560" cy="29260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FASE 1: ENTERPRISE IAM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Integrazione Single Sign-On (SSO) con Microsoft Entra ID / Keycloak e SCIM.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337560" cy="29260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FASE 2: SCALABILITÀ CLOUD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Migrazione a Vector DB distribuiti (Qdrant cluster) e code asincrone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37560" cy="29260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FASE 3: OSSERVABILITÀ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Tracciamento distribuito con OpenTelemetry, metriche Prometheus e Grafana.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37760"/>
            <a:ext cx="10515600" cy="12801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t>Grazie per l'attenzione!  —  Spazio per Domande e Risposte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