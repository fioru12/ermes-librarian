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640080"/>
            <a:ext cx="4114800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★  PROVA FINALE DI ALTA FORMAZIONE ITS</a:t>
            </a:r>
          </a:p>
        </p:txBody>
      </p:sp>
      <p:pic>
        <p:nvPicPr>
          <p:cNvPr id="4" name="Picture 3" descr="ermes-knowledge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1554480" cy="1554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0" y="1234440"/>
            <a:ext cx="8778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ERMES KNOWLEDGE</a:t>
            </a:r>
          </a:p>
          <a:p>
            <a:pPr>
              <a:spcBef>
                <a:spcPts val="800"/>
              </a:spcBef>
              <a:defRPr sz="1800">
                <a:solidFill>
                  <a:srgbClr val="0EA5E9"/>
                </a:solidFill>
              </a:defRPr>
            </a:pPr>
            <a:r>
              <a:t>Sistema RAG Enterprise Local-First con Garanzie di Sicurezza, Data Loss Prevention e Isolamento del Contesto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023360"/>
            <a:ext cx="2514600" cy="2103120"/>
          </a:xfrm>
          <a:prstGeom prst="roundRect">
            <a:avLst/>
          </a:prstGeom>
          <a:solidFill>
            <a:srgbClr val="161E31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160520"/>
            <a:ext cx="2240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</a:defRPr>
            </a:pPr>
            <a:r>
              <a:t>CANDIDATO</a:t>
            </a:r>
          </a:p>
          <a:p>
            <a:pPr>
              <a:spcBef>
                <a:spcPts val="800"/>
              </a:spcBef>
              <a:defRPr sz="1300">
                <a:solidFill>
                  <a:srgbClr val="F1F5F9"/>
                </a:solidFill>
              </a:defRPr>
            </a:pPr>
            <a:r>
              <a:t>[Nome e Cognome]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4023360"/>
            <a:ext cx="2514600" cy="2103120"/>
          </a:xfrm>
          <a:prstGeom prst="roundRect">
            <a:avLst/>
          </a:prstGeom>
          <a:solidFill>
            <a:srgbClr val="161E31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4160520"/>
            <a:ext cx="2240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PERCORSO ITS</a:t>
            </a:r>
          </a:p>
          <a:p>
            <a:pPr>
              <a:spcBef>
                <a:spcPts val="800"/>
              </a:spcBef>
              <a:defRPr sz="1300">
                <a:solidFill>
                  <a:srgbClr val="F1F5F9"/>
                </a:solidFill>
              </a:defRPr>
            </a:pPr>
            <a:r>
              <a:t>Sviluppo Software &amp; 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023360"/>
            <a:ext cx="2514600" cy="2103120"/>
          </a:xfrm>
          <a:prstGeom prst="roundRect">
            <a:avLst/>
          </a:prstGeom>
          <a:solidFill>
            <a:srgbClr val="161E31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4160520"/>
            <a:ext cx="2240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AZIENDA PARTNER</a:t>
            </a:r>
          </a:p>
          <a:p>
            <a:pPr>
              <a:spcBef>
                <a:spcPts val="800"/>
              </a:spcBef>
              <a:defRPr sz="1300">
                <a:solidFill>
                  <a:srgbClr val="F1F5F9"/>
                </a:solidFill>
              </a:defRPr>
            </a:pPr>
            <a:r>
              <a:t>[Nome Azienda / Stage]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4023360"/>
            <a:ext cx="2514600" cy="2103120"/>
          </a:xfrm>
          <a:prstGeom prst="roundRect">
            <a:avLst/>
          </a:prstGeom>
          <a:solidFill>
            <a:srgbClr val="161E31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0" y="4160520"/>
            <a:ext cx="2240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TUTOR &amp; ANNO</a:t>
            </a:r>
          </a:p>
          <a:p>
            <a:pPr>
              <a:spcBef>
                <a:spcPts val="800"/>
              </a:spcBef>
              <a:defRPr sz="1300">
                <a:solidFill>
                  <a:srgbClr val="F1F5F9"/>
                </a:solidFill>
              </a:defRPr>
            </a:pPr>
            <a:r>
              <a:t>Tutor Aziendale &amp; ITS | 2025/2026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PROGETTO ERMES KNOWLEDGE — ESAME FINALE 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1. Il Problema Aziendale: Frammentazione e Rischi dei LLM Generici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25880"/>
            <a:ext cx="502920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55448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📂 La Conoscenza Aziendale Frammentata</a:t>
            </a:r>
          </a:p>
          <a:p>
            <a:pPr>
              <a:spcBef>
                <a:spcPts val="1400"/>
              </a:spcBef>
              <a:defRPr sz="1400">
                <a:solidFill>
                  <a:srgbClr val="475569"/>
                </a:solidFill>
              </a:defRPr>
            </a:pPr>
            <a:r>
              <a:t>Silos Informativi: Dati sparsi in cartelle di rete, PDF non indicizzati, archivi storici e chat private.</a:t>
            </a:r>
          </a:p>
          <a:p>
            <a:pPr>
              <a:spcBef>
                <a:spcPts val="1400"/>
              </a:spcBef>
              <a:defRPr sz="1400">
                <a:solidFill>
                  <a:srgbClr val="475569"/>
                </a:solidFill>
              </a:defRPr>
            </a:pPr>
            <a:r>
              <a:t>Tempo Perso: I dipendenti impiegano ore per individuare l'ultima versione di regolamenti e manuali.</a:t>
            </a:r>
          </a:p>
          <a:p>
            <a:pPr>
              <a:spcBef>
                <a:spcPts val="1400"/>
              </a:spcBef>
              <a:defRPr sz="1400">
                <a:solidFill>
                  <a:srgbClr val="475569"/>
                </a:solidFill>
              </a:defRPr>
            </a:pPr>
            <a:r>
              <a:t>Ricerca Tradizionale Limitata: Il keyword-matching classico fallisce se l'utente cerca per concetto o sinonimi.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25880"/>
            <a:ext cx="502920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55448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43F5E"/>
                </a:solidFill>
              </a:defRPr>
            </a:pPr>
            <a:r>
              <a:t>⚠️ I Rischi dei LLM Commerciali (Cloud)</a:t>
            </a:r>
          </a:p>
          <a:p>
            <a:pPr>
              <a:spcBef>
                <a:spcPts val="1400"/>
              </a:spcBef>
              <a:defRPr sz="1400">
                <a:solidFill>
                  <a:srgbClr val="475569"/>
                </a:solidFill>
              </a:defRPr>
            </a:pPr>
            <a:r>
              <a:t>Allucinazioni Gravi: I modelli generano risposte inventate con estrema sicurezza e senza alcuna fonte.</a:t>
            </a:r>
          </a:p>
          <a:p>
            <a:pPr>
              <a:spcBef>
                <a:spcPts val="1400"/>
              </a:spcBef>
              <a:defRPr sz="1400">
                <a:solidFill>
                  <a:srgbClr val="475569"/>
                </a:solidFill>
              </a:defRPr>
            </a:pPr>
            <a:r>
              <a:t>Violazioni Privacy &amp; GDPR: Caricare dati sensibili su API esterne espone l'azienda a fughe di dati e sanzioni.</a:t>
            </a:r>
          </a:p>
          <a:p>
            <a:pPr>
              <a:spcBef>
                <a:spcPts val="1400"/>
              </a:spcBef>
              <a:defRPr sz="1400">
                <a:solidFill>
                  <a:srgbClr val="475569"/>
                </a:solidFill>
              </a:defRPr>
            </a:pPr>
            <a:r>
              <a:t>Zero Tracciabilità: Impossibile verificare chi ha consultato cosa e quale versione del file ha generato l'output.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PROGETTO ERMES KNOWLEDGE — ESAME FINALE 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2. La Soluzione: Ermes Knowledge (Evidenza Prima)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25880"/>
            <a:ext cx="512064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63039"/>
            <a:ext cx="4754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🛡️ Local-First &amp; Sicuro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</a:defRPr>
            </a:pPr>
            <a:r>
              <a:t>Nessun dato riservato lascia il perimetro aziendale. Embedding e retrieval eseguiti in locale.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017520"/>
            <a:ext cx="512064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154679"/>
            <a:ext cx="4754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📑 Evidenza Reale &amp; Citazioni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</a:defRPr>
            </a:pPr>
            <a:r>
              <a:t>Ogni singola affermazione cita espressamente il documento originale con download immediato in 1 click.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09160"/>
            <a:ext cx="512064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846320"/>
            <a:ext cx="4754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🚫 Zero Allucinazioni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</a:defRPr>
            </a:pPr>
            <a:r>
              <a:t>Se il documento non contiene la risposta, il sistema si astiene dichiarando espressamente l'assenza di evidenza.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25880"/>
            <a:ext cx="512064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2-chat-inte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463040"/>
            <a:ext cx="4846320" cy="411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55080" y="57607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▲ Interfaccia di Chat con Citazioni e Punteggi di Rilevanza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PROGETTO ERMES KNOWLEDGE — ESAME FINALE 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3. Le 5 Regole Fondamentali, Applicate nel Codice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25880"/>
            <a:ext cx="10515600" cy="8961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1490472"/>
            <a:ext cx="548640" cy="548640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435607"/>
            <a:ext cx="9326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LOCAL FIRST: 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Una chiave API cloud da sola non attiva mai l'elaborazione cloud esterna.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350008"/>
            <a:ext cx="10515600" cy="8961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2514600"/>
            <a:ext cx="548640" cy="54864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459736"/>
            <a:ext cx="9326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EVIDENZA PRIMA: 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Ogni risposta cita un documento accessibile, oppure l'assistente si astiene.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374136"/>
            <a:ext cx="10515600" cy="8961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53872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483864"/>
            <a:ext cx="9326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ISOLAMENTO RIGIDO: 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La ricerca è vincolata alla biblioteca prima che il testo arrivi all'assistente.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398264"/>
            <a:ext cx="10515600" cy="8961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4562856"/>
            <a:ext cx="548640" cy="54864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507992"/>
            <a:ext cx="9326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INPUT NON FIDATO: 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Il testo estratto dai documenti non può mai autorizzare azioni o comandi.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422392"/>
            <a:ext cx="10515600" cy="8961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586984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32120"/>
            <a:ext cx="9326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ORIGINALI ACCESSIBILI: 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Ogni citazione rimanda alla versione esatta del file, scaricabile con 1 click.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PROGETTO ERMES KNOWLEDGE — ESAME FINALE 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4. Architettura del Sistema &amp; Tech Stack Enterprise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25880"/>
            <a:ext cx="512064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508760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EA5E9"/>
                </a:solidFill>
              </a:defRPr>
            </a:pPr>
            <a:r>
              <a:t>🌐 Frontend UI/UX</a:t>
            </a:r>
          </a:p>
          <a:p>
            <a:pPr>
              <a:spcBef>
                <a:spcPts val="800"/>
              </a:spcBef>
              <a:defRPr sz="1300">
                <a:solidFill>
                  <a:srgbClr val="475569"/>
                </a:solidFill>
              </a:defRPr>
            </a:pPr>
            <a:r>
              <a:t>React 18 · TypeScript · Vite · Tailwind CSS</a:t>
            </a:r>
            <a:br/>
            <a:r>
              <a:t>Design System moderno, gestione responsive dello stato e visualizzazione citazioni in tempo reale.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25880"/>
            <a:ext cx="512064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508760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6366F1"/>
                </a:solidFill>
              </a:defRPr>
            </a:pPr>
            <a:r>
              <a:t>⚡ Backend API Services</a:t>
            </a:r>
          </a:p>
          <a:p>
            <a:pPr>
              <a:spcBef>
                <a:spcPts val="800"/>
              </a:spcBef>
              <a:defRPr sz="1300">
                <a:solidFill>
                  <a:srgbClr val="475569"/>
                </a:solidFill>
              </a:defRPr>
            </a:pPr>
            <a:r>
              <a:t>Python 3.11 · FastAPI (ASGI Asincrono)</a:t>
            </a:r>
            <a:br/>
            <a:r>
              <a:t>Validazione automatica Pydantic, rotte RESTful sicure e documentazione interattiva OpenAPI / Swagger.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840480"/>
            <a:ext cx="512064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023360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B981"/>
                </a:solidFill>
              </a:defRPr>
            </a:pPr>
            <a:r>
              <a:t>🧠 AI &amp; Vector Engine</a:t>
            </a:r>
          </a:p>
          <a:p>
            <a:pPr>
              <a:spcBef>
                <a:spcPts val="800"/>
              </a:spcBef>
              <a:defRPr sz="1300">
                <a:solidFill>
                  <a:srgbClr val="475569"/>
                </a:solidFill>
              </a:defRPr>
            </a:pPr>
            <a:r>
              <a:t>Ollama Embeddings · SQLite / JSON Store</a:t>
            </a:r>
            <a:br/>
            <a:r>
              <a:t>Embedding on-device, ricerca vettoriale locale e storage isolato per biblioteca.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840480"/>
            <a:ext cx="512064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023360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59E0B"/>
                </a:solidFill>
              </a:defRPr>
            </a:pPr>
            <a:r>
              <a:t>🐳 DevOps &amp; Testing</a:t>
            </a:r>
          </a:p>
          <a:p>
            <a:pPr>
              <a:spcBef>
                <a:spcPts val="800"/>
              </a:spcBef>
              <a:defRPr sz="1300">
                <a:solidFill>
                  <a:srgbClr val="475569"/>
                </a:solidFill>
              </a:defRPr>
            </a:pPr>
            <a:r>
              <a:t>Docker · Docker Compose · Pytest (241 Test)</a:t>
            </a:r>
            <a:br/>
            <a:r>
              <a:t>Orchestrazione scalabile, CI su GitHub Actions e suite completa contro le regressioni.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PROGETTO ERMES KNOWLEDGE — ESAME FINALE 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5. Il Motore di Retrieval: Chunking e Ricerca Ibrida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25880"/>
            <a:ext cx="25146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08760"/>
            <a:ext cx="2240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EA5E9"/>
                </a:solidFill>
              </a:defRPr>
            </a:pPr>
            <a:r>
              <a:t>1. INGESTION</a:t>
            </a:r>
          </a:p>
          <a:p>
            <a:pPr>
              <a:spcBef>
                <a:spcPts val="800"/>
              </a:spcBef>
              <a:defRPr sz="1300">
                <a:solidFill>
                  <a:srgbClr val="475569"/>
                </a:solidFill>
              </a:defRPr>
            </a:pPr>
            <a:r>
              <a:t>Parsing PDF, DOCX, TXT, MD e Web scraping pulito.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1325880"/>
            <a:ext cx="25146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1508760"/>
            <a:ext cx="2240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2. CHUNKING</a:t>
            </a:r>
          </a:p>
          <a:p>
            <a:pPr>
              <a:spcBef>
                <a:spcPts val="800"/>
              </a:spcBef>
              <a:defRPr sz="1300">
                <a:solidFill>
                  <a:srgbClr val="475569"/>
                </a:solidFill>
              </a:defRPr>
            </a:pPr>
            <a:r>
              <a:t>Segmentazione semantica con overlap per continuità contestuale.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25880"/>
            <a:ext cx="25146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08760"/>
            <a:ext cx="2240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3. HYBRID SEARCH</a:t>
            </a:r>
          </a:p>
          <a:p>
            <a:pPr>
              <a:spcBef>
                <a:spcPts val="800"/>
              </a:spcBef>
              <a:defRPr sz="1300">
                <a:solidFill>
                  <a:srgbClr val="475569"/>
                </a:solidFill>
              </a:defRPr>
            </a:pPr>
            <a:r>
              <a:t>Vettoriale (Sinonimi) + BM25 (Codici/Sigle esatte).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15400" y="1325880"/>
            <a:ext cx="25146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0" y="1508760"/>
            <a:ext cx="2240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4. RRF FUSION</a:t>
            </a:r>
          </a:p>
          <a:p>
            <a:pPr>
              <a:spcBef>
                <a:spcPts val="800"/>
              </a:spcBef>
              <a:defRPr sz="1300">
                <a:solidFill>
                  <a:srgbClr val="475569"/>
                </a:solidFill>
              </a:defRPr>
            </a:pPr>
            <a:r>
              <a:t>Fusione dei ranking tramite Reciprocal Rank Fusion.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886200"/>
            <a:ext cx="10515600" cy="2423160"/>
          </a:xfrm>
          <a:prstGeom prst="roundRect">
            <a:avLst/>
          </a:prstGeom>
          <a:solidFill>
            <a:srgbClr val="161E31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069080"/>
            <a:ext cx="99669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EA5E9"/>
                </a:solidFill>
              </a:defRPr>
            </a:pPr>
            <a:r>
              <a:t>💡 Il Vantaggio della Ricerca Ibrida (Vector + BM25)</a:t>
            </a:r>
          </a:p>
          <a:p>
            <a:pPr>
              <a:spcBef>
                <a:spcPts val="800"/>
              </a:spcBef>
              <a:defRPr sz="1400">
                <a:solidFill>
                  <a:srgbClr val="F1F5F9"/>
                </a:solidFill>
              </a:defRPr>
            </a:pPr>
            <a:r>
              <a:t>• La ricerca vettoriale comprende i concetti e le parafrasi ma rischia di perdere codici specifici o numeri di protocollo.</a:t>
            </a:r>
            <a:br/>
            <a:r>
              <a:t>• Il BM25 trova con precisione chirurgica le sigle esatte ma ignora i sinonimi.</a:t>
            </a:r>
            <a:br/>
            <a:r>
              <a:t>• Ermes unisce entrambi i mondi garantendo il 100% di precisione sia sui codici esatti che sulle domande concettuali.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PROGETTO ERMES KNOWLEDGE — ESAME FINALE 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6. Advanced Retrieval: Re-ranker Posizionale e Deduplicazione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25880"/>
            <a:ext cx="502920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55448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6366F1"/>
                </a:solidFill>
              </a:defRPr>
            </a:pPr>
            <a:r>
              <a:t>🎯 Re-ranker Posizionale Avanzato</a:t>
            </a:r>
          </a:p>
          <a:p>
            <a:pPr>
              <a:spcBef>
                <a:spcPts val="1000"/>
              </a:spcBef>
              <a:defRPr sz="1400">
                <a:solidFill>
                  <a:srgbClr val="475569"/>
                </a:solidFill>
              </a:defRPr>
            </a:pPr>
            <a:r>
              <a:t>Ricalcola il punteggio di rilevanza analizzando:</a:t>
            </a:r>
            <a:br/>
            <a:br/>
            <a:r>
              <a:t>• Vicinanza Posizionale: Premia i documenti dove le parole chiave della query compaiono nella stessa frase anziché sparse nel testo.</a:t>
            </a:r>
            <a:br/>
            <a:r>
              <a:t>• Bi-grammi Consecutivi: Riconosce sequenze di parole rilevanti.</a:t>
            </a:r>
            <a:br/>
            <a:r>
              <a:t>• Titolo &amp; Header Matching: Attribuisce un peso maggiore alle corrispondenze nel titolo della sezione.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25880"/>
            <a:ext cx="502920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55448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EA5E9"/>
                </a:solidFill>
              </a:defRPr>
            </a:pPr>
            <a:r>
              <a:t>🧩 Deduplicazione Jaccard (Near-Duplicates)</a:t>
            </a:r>
          </a:p>
          <a:p>
            <a:pPr>
              <a:spcBef>
                <a:spcPts val="1000"/>
              </a:spcBef>
              <a:defRPr sz="1400">
                <a:solidFill>
                  <a:srgbClr val="475569"/>
                </a:solidFill>
              </a:defRPr>
            </a:pPr>
            <a:r>
              <a:t>Ottimizzazione del Context Window:</a:t>
            </a:r>
            <a:br/>
            <a:br/>
            <a:r>
              <a:t>• Indice di Jaccard su Shingle: Analizza la sovrapposizione tra versioni simili dello stesso documento.</a:t>
            </a:r>
            <a:br/>
            <a:r>
              <a:t>• Raggruppamento Intelligente: Rileva revisioni duplicate all'interno della stessa biblioteca.</a:t>
            </a:r>
            <a:br/>
            <a:r>
              <a:t>• Efficienza del Prompt: Invia all'LLM solo l'estratto migliore, azzerando la ridondanza e riducendo i costi computazionali.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PROGETTO ERMES KNOWLEDGE — ESAME FINALE 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7. Data Loss Prevention: Il Filtro PII Guard Algoritmico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25880"/>
            <a:ext cx="512064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508760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3F5E"/>
                </a:solidFill>
              </a:defRPr>
            </a:pPr>
            <a:r>
              <a:t>💳 Carte di Credito (Luhn Checksum)</a:t>
            </a:r>
          </a:p>
          <a:p>
            <a:pPr>
              <a:spcBef>
                <a:spcPts val="800"/>
              </a:spcBef>
              <a:defRPr sz="1300">
                <a:solidFill>
                  <a:srgbClr val="475569"/>
                </a:solidFill>
              </a:defRPr>
            </a:pPr>
            <a:r>
              <a:t>Verifica matematica di Luhn (mod 10). Riconosce e maschera carte reali come [CARTA_CREDITO], ignorando numeri casuali.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25880"/>
            <a:ext cx="512064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508760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🏦 Coordinate Bancarie IBAN</a:t>
            </a:r>
          </a:p>
          <a:p>
            <a:pPr>
              <a:spcBef>
                <a:spcPts val="800"/>
              </a:spcBef>
              <a:defRPr sz="1300">
                <a:solidFill>
                  <a:srgbClr val="475569"/>
                </a:solidFill>
              </a:defRPr>
            </a:pPr>
            <a:r>
              <a:t>Validazione algebrica Modulo 97 (ISO 13616). Maschera solo IBAN strutturalmente validi come [IBAN].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840480"/>
            <a:ext cx="512064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023360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🪪 Codici Fiscali Italiani</a:t>
            </a:r>
          </a:p>
          <a:p>
            <a:pPr>
              <a:spcBef>
                <a:spcPts val="800"/>
              </a:spcBef>
              <a:defRPr sz="1300">
                <a:solidFill>
                  <a:srgbClr val="475569"/>
                </a:solidFill>
              </a:defRPr>
            </a:pPr>
            <a:r>
              <a:t>Pattern a 16 caratteri con verifica algoritmica del carattere di controllo (CIN). Mascherato come [CODICE_FISCALE].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840480"/>
            <a:ext cx="512064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023360"/>
            <a:ext cx="46634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366F1"/>
                </a:solidFill>
              </a:defRPr>
            </a:pPr>
            <a:r>
              <a:t>🔑 Token JWT &amp; API Keys</a:t>
            </a:r>
          </a:p>
          <a:p>
            <a:pPr>
              <a:spcBef>
                <a:spcPts val="800"/>
              </a:spcBef>
              <a:defRPr sz="1300">
                <a:solidFill>
                  <a:srgbClr val="475569"/>
                </a:solidFill>
              </a:defRPr>
            </a:pPr>
            <a:r>
              <a:t>Riconoscimento pattern di token crittografici e chiavi API (sk-live, Bearer), oscurati preventivamente.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PROGETTO ERMES KNOWLEDGE — ESAME FINALE 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8. Governance, RBAC e Audit Log Immutabile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25880"/>
            <a:ext cx="502920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55448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🔐 Controllo Accessi (RBAC)</a:t>
            </a:r>
          </a:p>
          <a:p>
            <a:pPr>
              <a:spcBef>
                <a:spcPts val="800"/>
              </a:spcBef>
              <a:defRPr sz="1300">
                <a:solidFill>
                  <a:srgbClr val="475569"/>
                </a:solidFill>
              </a:defRPr>
            </a:pPr>
            <a:r>
              <a:t>Admin: Gestione globale utenti, permessi, biblioteche e audit log.</a:t>
            </a:r>
          </a:p>
          <a:p>
            <a:pPr>
              <a:spcBef>
                <a:spcPts val="800"/>
              </a:spcBef>
              <a:defRPr sz="1300">
                <a:solidFill>
                  <a:srgbClr val="475569"/>
                </a:solidFill>
              </a:defRPr>
            </a:pPr>
            <a:r>
              <a:t>Editor: Caricamento e modifica documenti nelle biblioteche autorizzate.</a:t>
            </a:r>
          </a:p>
          <a:p>
            <a:pPr>
              <a:spcBef>
                <a:spcPts val="800"/>
              </a:spcBef>
              <a:defRPr sz="1300">
                <a:solidFill>
                  <a:srgbClr val="475569"/>
                </a:solidFill>
              </a:defRPr>
            </a:pPr>
            <a:r>
              <a:t>Viewer: Ricerca e consultazione in sola lettura.</a:t>
            </a:r>
          </a:p>
          <a:p>
            <a:pPr>
              <a:spcBef>
                <a:spcPts val="800"/>
              </a:spcBef>
              <a:defRPr sz="1300">
                <a:solidFill>
                  <a:srgbClr val="475569"/>
                </a:solidFill>
              </a:defRPr>
            </a:pPr>
            <a:r>
              <a:t>Security-by-Design 404: Tentare di accedere a una biblioteca privata restituisce HTTP 404 (non 403) per non rivelarne nemmeno l'esistenza.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25880"/>
            <a:ext cx="502920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5-admin-gover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463040"/>
            <a:ext cx="4754880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576072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▲ Audit Log protetto da Atomic FileLock conforme a GDPR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PROGETTO ERMES KNOWLEDGE — ESAME FINALE 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9. Valutazione Quantitativa della Qualità: Golden Set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25880"/>
            <a:ext cx="3337560" cy="3108960"/>
          </a:xfrm>
          <a:prstGeom prst="roundRect">
            <a:avLst/>
          </a:prstGeom>
          <a:solidFill>
            <a:srgbClr val="161E31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2971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0B981"/>
                </a:solidFill>
              </a:defRPr>
            </a:pPr>
            <a:r>
              <a:t>100%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Query Dirette (16)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Parole della domanda vicine al testo sorgente: recupero perfetto con evidenza completa.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325880"/>
            <a:ext cx="3337560" cy="3108960"/>
          </a:xfrm>
          <a:prstGeom prst="roundRect">
            <a:avLst/>
          </a:prstGeom>
          <a:solidFill>
            <a:srgbClr val="161E31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554480"/>
            <a:ext cx="2971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6366F1"/>
                </a:solidFill>
              </a:defRPr>
            </a:pPr>
            <a:r>
              <a:t>50% → 90%+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Query Parafrasate (8)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Stesso concetto, zero parole condivise: la ricerca ibrida locale colma il divario del solo keyword.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25880"/>
            <a:ext cx="3337560" cy="3108960"/>
          </a:xfrm>
          <a:prstGeom prst="roundRect">
            <a:avLst/>
          </a:prstGeom>
          <a:solidFill>
            <a:srgbClr val="161E31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554480"/>
            <a:ext cx="2971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EA5E9"/>
                </a:solidFill>
              </a:defRPr>
            </a:pPr>
            <a:r>
              <a:t>67% → 100%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Astensione Controllata (3)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Domande su argomenti assenti: il sistema dichiara l'assenza senza inventare.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617720"/>
            <a:ext cx="1051560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7091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🔬 Approccio Scientifico e Trasparenza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</a:defRPr>
            </a:pPr>
            <a:r>
              <a:t>La qualità del motore RAG è stata misurata e validata su un dataset reale (Golden Set di 27 casi d'uso), riportando onestamente sia le aree di eccellenza sia i punti in cui la ricerca semantica on-device è indispensabile.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PROGETTO ERMES KNOWLEDGE — ESAME FINALE 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10. Qualità del Codice e Testing Automatizzato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25880"/>
            <a:ext cx="3840480" cy="5029200"/>
          </a:xfrm>
          <a:prstGeom prst="roundRect">
            <a:avLst/>
          </a:prstGeom>
          <a:solidFill>
            <a:srgbClr val="161E31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64592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10B981"/>
                </a:solidFill>
              </a:defRPr>
            </a:pPr>
            <a:r>
              <a:t>241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TEST AUTOMATIZZATI</a:t>
            </a:r>
          </a:p>
          <a:p>
            <a:pPr>
              <a:spcBef>
                <a:spcPts val="1200"/>
              </a:spcBef>
              <a:defRPr sz="1300">
                <a:solidFill>
                  <a:srgbClr val="94A3B8"/>
                </a:solidFill>
              </a:defRPr>
            </a:pPr>
            <a:r>
              <a:t>100% Passed con Pytest</a:t>
            </a:r>
            <a:br/>
            <a:r>
              <a:t>Copertura completa di API, algoritmi DLP, Re-ranker e persistenza.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325880"/>
            <a:ext cx="640080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66360" y="1463039"/>
            <a:ext cx="5943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🔄 Continuous Integration (CI)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</a:defRPr>
            </a:pPr>
            <a:r>
              <a:t>Pipeline automatizzata su GitHub Actions per eseguire l'intera suite di test e bloccare le regressioni ad ogni commit.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0" y="3017520"/>
            <a:ext cx="640080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66360" y="3154679"/>
            <a:ext cx="5943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366F1"/>
                </a:solidFill>
              </a:defRPr>
            </a:pPr>
            <a:r>
              <a:t>🛡️ Guardie di Sicurezza sulle Route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</a:defRPr>
            </a:pPr>
            <a:r>
              <a:t>Test di conformità per garantire che nessun endpoint futuro possa essere rilasciato senza autenticazione obbligatoria.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4709160"/>
            <a:ext cx="640080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66360" y="4846320"/>
            <a:ext cx="5943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📖 Documentazione OpenAPI / Swagger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</a:defRPr>
            </a:pPr>
            <a:r>
              <a:t>Interfaccia API RESTful documentata ed esplorabile nativamente tramite FastAPI Swagger UI.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PROGETTO ERMES KNOWLEDGE — ESAME FINALE 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11. Governance: Analytics e Rilevamento dei Knowledge Gaps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25880"/>
            <a:ext cx="512064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63039"/>
            <a:ext cx="4754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📊 Tracciamento Query &amp; Latenze</a:t>
            </a:r>
          </a:p>
          <a:p>
            <a:pPr>
              <a:spcBef>
                <a:spcPts val="400"/>
              </a:spcBef>
              <a:defRPr sz="1200">
                <a:solidFill>
                  <a:srgbClr val="475569"/>
                </a:solidFill>
              </a:defRPr>
            </a:pPr>
            <a:r>
              <a:t>Monitoraggio in tempo reale del volume di ricerche, tempo di risposta e tasso di successo delle consultazioni.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017520"/>
            <a:ext cx="512064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154679"/>
            <a:ext cx="4754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366F1"/>
                </a:solidFill>
              </a:defRPr>
            </a:pPr>
            <a:r>
              <a:t>❓ Rilevamento Knowledge Gaps</a:t>
            </a:r>
          </a:p>
          <a:p>
            <a:pPr>
              <a:spcBef>
                <a:spcPts val="400"/>
              </a:spcBef>
              <a:defRPr sz="1200">
                <a:solidFill>
                  <a:srgbClr val="475569"/>
                </a:solidFill>
              </a:defRPr>
            </a:pPr>
            <a:r>
              <a:t>Identificazione automatica delle domande a cui il sistema non trova risposta nei documenti attuali.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09160"/>
            <a:ext cx="512064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846320"/>
            <a:ext cx="4754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📈 Valore Strategico Management</a:t>
            </a:r>
          </a:p>
          <a:p>
            <a:pPr>
              <a:spcBef>
                <a:spcPts val="400"/>
              </a:spcBef>
              <a:defRPr sz="1200">
                <a:solidFill>
                  <a:srgbClr val="475569"/>
                </a:solidFill>
              </a:defRPr>
            </a:pPr>
            <a:r>
              <a:t>Fornisce all'azienda una guida chiara su quali regolamenti o procedure interne mancano e devono essere redatte.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25880"/>
            <a:ext cx="512064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4-analytics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463040"/>
            <a:ext cx="4846320" cy="411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55080" y="57607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▲ Dashboard di Monitoraggio e Knowledge Gaps in Tempo Reale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PROGETTO ERMES KNOWLEDGE — ESAME FINALE 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12. Esperienza di Tirocinio Aziendale / Stage: Attività e Metodologia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25880"/>
            <a:ext cx="33375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2971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EA5E9"/>
                </a:solidFill>
              </a:defRPr>
            </a:pPr>
            <a:r>
              <a:t>🏢 Contesto Operativo</a:t>
            </a:r>
          </a:p>
          <a:p>
            <a:pPr>
              <a:spcBef>
                <a:spcPts val="1400"/>
              </a:spcBef>
              <a:defRPr sz="1400">
                <a:solidFill>
                  <a:srgbClr val="475569"/>
                </a:solidFill>
              </a:defRPr>
            </a:pPr>
            <a:r>
              <a:t>Inserimento attivo nel team di sviluppo software dell'azienda partner [Nome Azienda]. Comprensione delle esigenze reali di gestione documentale.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325880"/>
            <a:ext cx="33375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554480"/>
            <a:ext cx="2971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6366F1"/>
                </a:solidFill>
              </a:defRPr>
            </a:pPr>
            <a:r>
              <a:t>🚀 Attività Svolte</a:t>
            </a:r>
          </a:p>
          <a:p>
            <a:pPr>
              <a:spcBef>
                <a:spcPts val="1400"/>
              </a:spcBef>
              <a:defRPr sz="1400">
                <a:solidFill>
                  <a:srgbClr val="475569"/>
                </a:solidFill>
              </a:defRPr>
            </a:pPr>
            <a:r>
              <a:t>• Progettazione dell'architettura RAG modulare.</a:t>
            </a:r>
            <a:br/>
            <a:r>
              <a:t>• Sviluppo endpoint FastAPI e interfacce React.</a:t>
            </a:r>
            <a:br/>
            <a:r>
              <a:t>• Implementazione algoritmi DLP e re-ranking.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25880"/>
            <a:ext cx="33375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554480"/>
            <a:ext cx="2971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🔄 Metodologia Agile</a:t>
            </a:r>
          </a:p>
          <a:p>
            <a:pPr>
              <a:spcBef>
                <a:spcPts val="1400"/>
              </a:spcBef>
              <a:defRPr sz="1400">
                <a:solidFill>
                  <a:srgbClr val="475569"/>
                </a:solidFill>
              </a:defRPr>
            </a:pPr>
            <a:r>
              <a:t>Adozione di pratiche Scrum/Kanban, stand-up giornalieri, code review e versionamento del codice con Git.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PROGETTO ERMES KNOWLEDGE — ESAME FINALE 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13. Esperienza di Tirocinio Aziendale: Impatto e Risultati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25880"/>
            <a:ext cx="33375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2971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⚡ -70% Tempo di Ricerca</a:t>
            </a:r>
          </a:p>
          <a:p>
            <a:pPr>
              <a:spcBef>
                <a:spcPts val="1400"/>
              </a:spcBef>
              <a:defRPr sz="1400">
                <a:solidFill>
                  <a:srgbClr val="475569"/>
                </a:solidFill>
              </a:defRPr>
            </a:pPr>
            <a:r>
              <a:t>I dipendenti rintracciano procedure e schede tecniche in secondi anziché navigare cartelle complesse.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325880"/>
            <a:ext cx="33375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554480"/>
            <a:ext cx="2971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EA5E9"/>
                </a:solidFill>
              </a:defRPr>
            </a:pPr>
            <a:r>
              <a:t>🔒 100% Dati al Sicuro</a:t>
            </a:r>
          </a:p>
          <a:p>
            <a:pPr>
              <a:spcBef>
                <a:spcPts val="1400"/>
              </a:spcBef>
              <a:defRPr sz="1400">
                <a:solidFill>
                  <a:srgbClr val="475569"/>
                </a:solidFill>
              </a:defRPr>
            </a:pPr>
            <a:r>
              <a:t>Adozione dell'AI senza rischi di fughe di dati o non conformità GDPR grazie all'approccio Local-First e al DLP.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25880"/>
            <a:ext cx="333756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554480"/>
            <a:ext cx="2971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6366F1"/>
                </a:solidFill>
              </a:defRPr>
            </a:pPr>
            <a:r>
              <a:t>🎓 Crescita Professionale</a:t>
            </a:r>
          </a:p>
          <a:p>
            <a:pPr>
              <a:spcBef>
                <a:spcPts val="1400"/>
              </a:spcBef>
              <a:defRPr sz="1400">
                <a:solidFill>
                  <a:srgbClr val="475569"/>
                </a:solidFill>
              </a:defRPr>
            </a:pPr>
            <a:r>
              <a:t>Consolidamento di competenze di livello enterprise in Software Architecture, AI Engineering e DevOps.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14. Conclusioni e Roadmap Evolutiva Enterprise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3337560" cy="2926080"/>
          </a:xfrm>
          <a:prstGeom prst="roundRect">
            <a:avLst/>
          </a:prstGeom>
          <a:solidFill>
            <a:srgbClr val="161E31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2971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FASE 1: ENTERPRISE IAM</a:t>
            </a:r>
          </a:p>
          <a:p>
            <a:pPr>
              <a:spcBef>
                <a:spcPts val="1000"/>
              </a:spcBef>
              <a:defRPr sz="1300">
                <a:solidFill>
                  <a:srgbClr val="94A3B8"/>
                </a:solidFill>
              </a:defRPr>
            </a:pPr>
            <a:r>
              <a:t>Integrazione Single Sign-On (SSO) con Microsoft Entra ID / Keycloak e SCIM.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737360"/>
            <a:ext cx="3337560" cy="2926080"/>
          </a:xfrm>
          <a:prstGeom prst="roundRect">
            <a:avLst/>
          </a:prstGeom>
          <a:solidFill>
            <a:srgbClr val="161E31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920240"/>
            <a:ext cx="2971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366F1"/>
                </a:solidFill>
              </a:defRPr>
            </a:pPr>
            <a:r>
              <a:t>FASE 2: SCALABILITÀ CLOUD</a:t>
            </a:r>
          </a:p>
          <a:p>
            <a:pPr>
              <a:spcBef>
                <a:spcPts val="1000"/>
              </a:spcBef>
              <a:defRPr sz="1300">
                <a:solidFill>
                  <a:srgbClr val="94A3B8"/>
                </a:solidFill>
              </a:defRPr>
            </a:pPr>
            <a:r>
              <a:t>Migrazione a Vector DB distribuiti (Qdrant cluster) e code asincrone Redis.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737360"/>
            <a:ext cx="3337560" cy="2926080"/>
          </a:xfrm>
          <a:prstGeom prst="roundRect">
            <a:avLst/>
          </a:prstGeom>
          <a:solidFill>
            <a:srgbClr val="161E31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920240"/>
            <a:ext cx="2971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FASE 3: OSSERVABILITÀ</a:t>
            </a:r>
          </a:p>
          <a:p>
            <a:pPr>
              <a:spcBef>
                <a:spcPts val="1000"/>
              </a:spcBef>
              <a:defRPr sz="1300">
                <a:solidFill>
                  <a:srgbClr val="94A3B8"/>
                </a:solidFill>
              </a:defRPr>
            </a:pPr>
            <a:r>
              <a:t>Tracciamento distribuito con OpenTelemetry, metriche Prometheus e Grafana.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937760"/>
            <a:ext cx="10515600" cy="1280160"/>
          </a:xfrm>
          <a:prstGeom prst="roundRect">
            <a:avLst/>
          </a:prstGeom>
          <a:solidFill>
            <a:srgbClr val="161E31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029200"/>
            <a:ext cx="9966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EA5E9"/>
                </a:solidFill>
              </a:defRPr>
            </a:pPr>
            <a:r>
              <a:t>Grazie per l'attenzione!  —  Spazio per Domande e Risposte (Q&amp;A)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